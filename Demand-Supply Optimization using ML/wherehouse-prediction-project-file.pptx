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3" r:id="rId1"/>
  </p:sldMasterIdLst>
  <p:sldIdLst>
    <p:sldId id="256" r:id="rId2"/>
    <p:sldId id="265" r:id="rId3"/>
    <p:sldId id="257" r:id="rId4"/>
    <p:sldId id="266" r:id="rId5"/>
    <p:sldId id="258" r:id="rId6"/>
    <p:sldId id="259" r:id="rId7"/>
    <p:sldId id="260" r:id="rId8"/>
    <p:sldId id="261" r:id="rId9"/>
    <p:sldId id="262" r:id="rId10"/>
    <p:sldId id="267" r:id="rId11"/>
    <p:sldId id="263" r:id="rId12"/>
    <p:sldId id="264" r:id="rId13"/>
    <p:sldId id="268" r:id="rId14"/>
  </p:sldIdLst>
  <p:sldSz cx="10691813" cy="756285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4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C55DC375-99F8-F6E1-8CD0-16FF67B5DEF1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721975" cy="7581900"/>
            <a:chOff x="-8466" y="-8468"/>
            <a:chExt cx="9169804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AD6D190-3CD7-0118-ECBB-0DC5013E1306}"/>
                </a:ext>
              </a:extLst>
            </p:cNvPr>
            <p:cNvCxnSpPr/>
            <p:nvPr/>
          </p:nvCxnSpPr>
          <p:spPr>
            <a:xfrm flipV="1">
              <a:off x="5130372" y="4176088"/>
              <a:ext cx="4022820" cy="2681742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2F32365-66FC-0379-22C2-F032EEF67134}"/>
                </a:ext>
              </a:extLst>
            </p:cNvPr>
            <p:cNvCxnSpPr/>
            <p:nvPr/>
          </p:nvCxnSpPr>
          <p:spPr>
            <a:xfrm>
              <a:off x="7043350" y="169"/>
              <a:ext cx="1219201" cy="6857661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CAF6D0CC-4255-725E-2F7E-B4B9023E7484}"/>
                </a:ext>
              </a:extLst>
            </p:cNvPr>
            <p:cNvSpPr/>
            <p:nvPr/>
          </p:nvSpPr>
          <p:spPr>
            <a:xfrm>
              <a:off x="6891289" y="169"/>
              <a:ext cx="2270049" cy="6866298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796A2D5C-8C21-08C7-B083-3A41182EBB96}"/>
                </a:ext>
              </a:extLst>
            </p:cNvPr>
            <p:cNvSpPr/>
            <p:nvPr/>
          </p:nvSpPr>
          <p:spPr>
            <a:xfrm>
              <a:off x="7204914" y="-8468"/>
              <a:ext cx="1948277" cy="6866298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1A958DBB-CBAE-1F97-DBFA-FAED9521297B}"/>
                </a:ext>
              </a:extLst>
            </p:cNvPr>
            <p:cNvSpPr/>
            <p:nvPr/>
          </p:nvSpPr>
          <p:spPr>
            <a:xfrm>
              <a:off x="6637402" y="3919861"/>
              <a:ext cx="2514432" cy="2937969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21">
              <a:extLst>
                <a:ext uri="{FF2B5EF4-FFF2-40B4-BE49-F238E27FC236}">
                  <a16:creationId xmlns:a16="http://schemas.microsoft.com/office/drawing/2014/main" id="{6AE18EB4-C16B-66D7-D754-475069693DB1}"/>
                </a:ext>
              </a:extLst>
            </p:cNvPr>
            <p:cNvSpPr/>
            <p:nvPr/>
          </p:nvSpPr>
          <p:spPr>
            <a:xfrm>
              <a:off x="7010765" y="-8468"/>
              <a:ext cx="2142427" cy="6866298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22">
              <a:extLst>
                <a:ext uri="{FF2B5EF4-FFF2-40B4-BE49-F238E27FC236}">
                  <a16:creationId xmlns:a16="http://schemas.microsoft.com/office/drawing/2014/main" id="{2244F967-151A-4F9D-A216-9D5353E3690D}"/>
                </a:ext>
              </a:extLst>
            </p:cNvPr>
            <p:cNvSpPr/>
            <p:nvPr/>
          </p:nvSpPr>
          <p:spPr>
            <a:xfrm>
              <a:off x="8295135" y="-8468"/>
              <a:ext cx="858057" cy="6866298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23">
              <a:extLst>
                <a:ext uri="{FF2B5EF4-FFF2-40B4-BE49-F238E27FC236}">
                  <a16:creationId xmlns:a16="http://schemas.microsoft.com/office/drawing/2014/main" id="{D7C93747-522D-B553-7EFF-40D3817F76A0}"/>
                </a:ext>
              </a:extLst>
            </p:cNvPr>
            <p:cNvSpPr/>
            <p:nvPr/>
          </p:nvSpPr>
          <p:spPr>
            <a:xfrm>
              <a:off x="8077905" y="-8468"/>
              <a:ext cx="1065783" cy="6866298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F8068245-230A-6D6C-66F2-91CE5BCA3EE2}"/>
                </a:ext>
              </a:extLst>
            </p:cNvPr>
            <p:cNvSpPr/>
            <p:nvPr/>
          </p:nvSpPr>
          <p:spPr>
            <a:xfrm>
              <a:off x="8060256" y="4894386"/>
              <a:ext cx="1094294" cy="1963445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003779FB-EC5A-6E58-8325-86682E1E1F13}"/>
                </a:ext>
              </a:extLst>
            </p:cNvPr>
            <p:cNvSpPr/>
            <p:nvPr/>
          </p:nvSpPr>
          <p:spPr>
            <a:xfrm>
              <a:off x="-8466" y="-8468"/>
              <a:ext cx="863488" cy="5697444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1972" y="2651667"/>
            <a:ext cx="6813013" cy="1815505"/>
          </a:xfrm>
        </p:spPr>
        <p:txBody>
          <a:bodyPr anchor="b">
            <a:noAutofit/>
          </a:bodyPr>
          <a:lstStyle>
            <a:lvl1pPr algn="r">
              <a:defRPr sz="5955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1972" y="4467170"/>
            <a:ext cx="6813013" cy="1209636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2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21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5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94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3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75CA29A-FEBB-AD58-910C-5064B1B6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03D03-4FE7-467D-A2DC-9640773C179B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AC8B221-F672-ED74-851E-B88B82292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93C218C-5A10-61AF-597F-8764DA1B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7F307-0795-4A30-BC74-46736907C0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724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EAB43-BC0E-B099-43B9-3B27F09DD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F9585-D662-425C-9005-616B6C6F8C6D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147CF-7AA2-DA38-5A8E-11AFF5926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1ADB-A7B0-7B5F-E054-EC39115C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6EFA1-93F1-46A9-B4B2-D0219895B5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6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2978458"/>
            <a:ext cx="7422198" cy="2014313"/>
          </a:xfrm>
        </p:spPr>
        <p:txBody>
          <a:bodyPr anchor="b"/>
          <a:lstStyle>
            <a:lvl1pPr algn="l">
              <a:defRPr sz="4411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92769"/>
            <a:ext cx="7422198" cy="948830"/>
          </a:xfrm>
        </p:spPr>
        <p:txBody>
          <a:bodyPr anchor="t"/>
          <a:lstStyle>
            <a:lvl1pPr marL="0" indent="0" algn="l">
              <a:buNone/>
              <a:defRPr sz="220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6B025-96E4-9D3D-E3E7-0B2EC75C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A81F4-BB6F-4A62-BB8A-0F14040799AF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11CBC-4AD1-126F-041E-05936746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7D1B-6B9C-9C0D-964D-DD1B86AD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D780F-A7E0-4E77-A44E-FE1E8D22E5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6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8" y="672253"/>
            <a:ext cx="7422197" cy="14565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2788" y="2382650"/>
            <a:ext cx="3610836" cy="4279629"/>
          </a:xfrm>
        </p:spPr>
        <p:txBody>
          <a:bodyPr/>
          <a:lstStyle>
            <a:lvl1pPr>
              <a:defRPr sz="1985"/>
            </a:lvl1pPr>
            <a:lvl2pPr>
              <a:defRPr sz="1764"/>
            </a:lvl2pPr>
            <a:lvl3pPr>
              <a:defRPr sz="1544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4148" y="2382651"/>
            <a:ext cx="3610837" cy="4279630"/>
          </a:xfrm>
        </p:spPr>
        <p:txBody>
          <a:bodyPr/>
          <a:lstStyle>
            <a:lvl1pPr>
              <a:defRPr sz="1985"/>
            </a:lvl1pPr>
            <a:lvl2pPr>
              <a:defRPr sz="1764"/>
            </a:lvl2pPr>
            <a:lvl3pPr>
              <a:defRPr sz="1544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20EDF2-A177-82B5-3DF9-E31636BE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6A8CF2-75B5-45DF-92F3-718813EECA13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4EEE8A-414E-DD8F-35E2-F3DCEB9B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6A352C-DEF5-40CC-2E21-D059AD53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F3743-0EF4-427D-BBDC-651B641079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86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7" y="672253"/>
            <a:ext cx="7422196" cy="14565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2383084"/>
            <a:ext cx="3613833" cy="635489"/>
          </a:xfrm>
        </p:spPr>
        <p:txBody>
          <a:bodyPr anchor="b">
            <a:noAutofit/>
          </a:bodyPr>
          <a:lstStyle>
            <a:lvl1pPr marL="0" indent="0">
              <a:buNone/>
              <a:defRPr sz="2647" b="0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786" y="3018575"/>
            <a:ext cx="3613833" cy="3643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21149" y="2383084"/>
            <a:ext cx="3613833" cy="635489"/>
          </a:xfrm>
        </p:spPr>
        <p:txBody>
          <a:bodyPr anchor="b">
            <a:noAutofit/>
          </a:bodyPr>
          <a:lstStyle>
            <a:lvl1pPr marL="0" indent="0">
              <a:buNone/>
              <a:defRPr sz="2647" b="0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21149" y="3018575"/>
            <a:ext cx="3613833" cy="36437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6F2E7A2-F048-8155-A008-B82B2FF3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A907B-F8F7-4103-832A-E89910F75CB9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4DB6FC1-3C57-E73F-042D-251F7452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D641DA-89BB-D217-84A6-875AABB5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94A33-3862-4B71-BEEF-5747BCF21F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45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672253"/>
            <a:ext cx="7422197" cy="14565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CD89F50-D2E2-5E85-0BD7-53ED2A06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01C14-9813-403F-AE38-E29BB0674627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0800E70-4DA6-2995-239F-47A7BBDF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8AD1EE-E3C5-5F7A-F42F-EDB5E495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7E7259-AFD9-48F5-9C1C-9367546A7C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29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6BF8163-BF6E-ADA9-26B4-DF33A3AA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37556-B668-425F-B31F-6C50A06FC8B8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78EC47E-317E-7C7C-2664-AD3048BA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D9D192-4BEA-1AA0-3491-A1ED381C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BCD48-A64B-4318-A5FE-C30B7A0A3D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31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1652627"/>
            <a:ext cx="3262479" cy="1409864"/>
          </a:xfrm>
        </p:spPr>
        <p:txBody>
          <a:bodyPr anchor="b"/>
          <a:lstStyle>
            <a:lvl1pPr>
              <a:defRPr sz="22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789" y="567848"/>
            <a:ext cx="3959194" cy="6094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786" y="3062490"/>
            <a:ext cx="3262479" cy="2850073"/>
          </a:xfrm>
        </p:spPr>
        <p:txBody>
          <a:bodyPr/>
          <a:lstStyle>
            <a:lvl1pPr marL="0" indent="0">
              <a:buNone/>
              <a:defRPr sz="1544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89D407E-594A-4BBE-D596-AA8DC146A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37559-9F9A-4515-B115-DDFCC455E531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3DBB699-C2B9-0902-2D3E-7B93945C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A9CB987-1D61-6D22-5C89-9C265FA2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1CE1E-08C6-4475-9E5F-03F6590DF4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73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5293995"/>
            <a:ext cx="7422197" cy="624986"/>
          </a:xfrm>
        </p:spPr>
        <p:txBody>
          <a:bodyPr anchor="b"/>
          <a:lstStyle>
            <a:lvl1pPr algn="l">
              <a:defRPr sz="264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2786" y="672254"/>
            <a:ext cx="7422197" cy="424097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4200" indent="0">
              <a:buNone/>
              <a:defRPr sz="1764"/>
            </a:lvl2pPr>
            <a:lvl3pPr marL="1008400" indent="0">
              <a:buNone/>
              <a:defRPr sz="1764"/>
            </a:lvl3pPr>
            <a:lvl4pPr marL="1512600" indent="0">
              <a:buNone/>
              <a:defRPr sz="1764"/>
            </a:lvl4pPr>
            <a:lvl5pPr marL="2016801" indent="0">
              <a:buNone/>
              <a:defRPr sz="1764"/>
            </a:lvl5pPr>
            <a:lvl6pPr marL="2521001" indent="0">
              <a:buNone/>
              <a:defRPr sz="1764"/>
            </a:lvl6pPr>
            <a:lvl7pPr marL="3025201" indent="0">
              <a:buNone/>
              <a:defRPr sz="1764"/>
            </a:lvl7pPr>
            <a:lvl8pPr marL="3529401" indent="0">
              <a:buNone/>
              <a:defRPr sz="1764"/>
            </a:lvl8pPr>
            <a:lvl9pPr marL="4033601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786" y="5918981"/>
            <a:ext cx="7422197" cy="743299"/>
          </a:xfrm>
        </p:spPr>
        <p:txBody>
          <a:bodyPr/>
          <a:lstStyle>
            <a:lvl1pPr marL="0" indent="0">
              <a:buNone/>
              <a:defRPr sz="1323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39DD967-41B2-0345-5244-40E69424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52A7C-396B-4952-ADF4-1F0016B51017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822C62-6552-2FC8-DF4B-D312C4C5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400A5B-24E6-980A-D38B-1C80533A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50904-4CD4-4769-849C-897A8A2C4C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86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8" y="672254"/>
            <a:ext cx="7422197" cy="3753414"/>
          </a:xfrm>
        </p:spPr>
        <p:txBody>
          <a:bodyPr anchor="ctr"/>
          <a:lstStyle>
            <a:lvl1pPr algn="l">
              <a:defRPr sz="485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8" y="4929858"/>
            <a:ext cx="7422197" cy="1732422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A8C43-E4F1-754D-6499-BEA94379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C1D9C-F84D-4117-B794-FC824FC673AF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0D0F-2A58-1C01-2AB0-9F30C9DF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CE071-D349-8FEE-CEB2-36EE52A3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515D1-D3C4-43FB-A435-45040564DF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565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3830C8-447C-0F5E-3A70-DEC1F7D24DCB}"/>
              </a:ext>
            </a:extLst>
          </p:cNvPr>
          <p:cNvSpPr txBox="1"/>
          <p:nvPr/>
        </p:nvSpPr>
        <p:spPr>
          <a:xfrm>
            <a:off x="565150" y="871538"/>
            <a:ext cx="533400" cy="644525"/>
          </a:xfrm>
          <a:prstGeom prst="rect">
            <a:avLst/>
          </a:prstGeom>
        </p:spPr>
        <p:txBody>
          <a:bodyPr lIns="100838" tIns="50419" rIns="100838" bIns="50419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2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98A4C-3C4D-9DC4-20B5-62C81B273338}"/>
              </a:ext>
            </a:extLst>
          </p:cNvPr>
          <p:cNvSpPr txBox="1"/>
          <p:nvPr/>
        </p:nvSpPr>
        <p:spPr>
          <a:xfrm>
            <a:off x="7889875" y="3182938"/>
            <a:ext cx="534988" cy="644525"/>
          </a:xfrm>
          <a:prstGeom prst="rect">
            <a:avLst/>
          </a:prstGeom>
        </p:spPr>
        <p:txBody>
          <a:bodyPr lIns="100838" tIns="50419" rIns="100838" bIns="50419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2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050" y="672253"/>
            <a:ext cx="7100026" cy="3333256"/>
          </a:xfrm>
        </p:spPr>
        <p:txBody>
          <a:bodyPr anchor="ctr"/>
          <a:lstStyle>
            <a:lvl1pPr algn="l">
              <a:defRPr sz="485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87454" y="4005510"/>
            <a:ext cx="6337219" cy="420158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200" indent="0">
              <a:buFontTx/>
              <a:buNone/>
              <a:defRPr/>
            </a:lvl2pPr>
            <a:lvl3pPr marL="1008400" indent="0">
              <a:buFontTx/>
              <a:buNone/>
              <a:defRPr/>
            </a:lvl3pPr>
            <a:lvl4pPr marL="1512600" indent="0">
              <a:buFontTx/>
              <a:buNone/>
              <a:defRPr/>
            </a:lvl4pPr>
            <a:lvl5pPr marL="201680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29858"/>
            <a:ext cx="7422198" cy="1732422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5362C14-0981-FC28-A885-1088B70CEBF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42973-DDCD-48CE-857C-F1D1084ACEB9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05F9E5C-C3DA-1A56-C442-5B680A25334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07446E-7F3C-4B0C-54A7-0D8270A68F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1D10F-4D4D-448A-A32A-5197E6F8E7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599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786" y="2130553"/>
            <a:ext cx="7422198" cy="2862216"/>
          </a:xfrm>
        </p:spPr>
        <p:txBody>
          <a:bodyPr anchor="b"/>
          <a:lstStyle>
            <a:lvl1pPr algn="l">
              <a:defRPr sz="485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92769"/>
            <a:ext cx="7422198" cy="1669511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6CC59-B8E3-DA93-B097-94F66337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CD227A-B4E1-46CD-B98B-BC81730DF51C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9DC14-EAFC-3756-4EDF-FF2AE6FF8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9BD32-9C25-4F6C-E1D2-110A7876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9E731-980B-4EF3-B362-B3F86BCE5A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196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D9BD39-B755-23EF-A3EE-2F617F18E3C8}"/>
              </a:ext>
            </a:extLst>
          </p:cNvPr>
          <p:cNvSpPr txBox="1"/>
          <p:nvPr/>
        </p:nvSpPr>
        <p:spPr>
          <a:xfrm>
            <a:off x="565150" y="871538"/>
            <a:ext cx="533400" cy="644525"/>
          </a:xfrm>
          <a:prstGeom prst="rect">
            <a:avLst/>
          </a:prstGeom>
        </p:spPr>
        <p:txBody>
          <a:bodyPr lIns="100838" tIns="50419" rIns="100838" bIns="50419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2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67DCF-4DC1-2A60-C772-D5AE705DC559}"/>
              </a:ext>
            </a:extLst>
          </p:cNvPr>
          <p:cNvSpPr txBox="1"/>
          <p:nvPr/>
        </p:nvSpPr>
        <p:spPr>
          <a:xfrm>
            <a:off x="7889875" y="3182938"/>
            <a:ext cx="534988" cy="644525"/>
          </a:xfrm>
          <a:prstGeom prst="rect">
            <a:avLst/>
          </a:prstGeom>
        </p:spPr>
        <p:txBody>
          <a:bodyPr lIns="100838" tIns="50419" rIns="100838" bIns="50419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22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050" y="672253"/>
            <a:ext cx="7100026" cy="3333256"/>
          </a:xfrm>
        </p:spPr>
        <p:txBody>
          <a:bodyPr anchor="ctr"/>
          <a:lstStyle>
            <a:lvl1pPr algn="l">
              <a:defRPr sz="485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2784" y="4425668"/>
            <a:ext cx="7422200" cy="567101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200" indent="0">
              <a:buFontTx/>
              <a:buNone/>
              <a:defRPr/>
            </a:lvl2pPr>
            <a:lvl3pPr marL="1008400" indent="0">
              <a:buFontTx/>
              <a:buNone/>
              <a:defRPr/>
            </a:lvl3pPr>
            <a:lvl4pPr marL="1512600" indent="0">
              <a:buFontTx/>
              <a:buNone/>
              <a:defRPr/>
            </a:lvl4pPr>
            <a:lvl5pPr marL="201680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92769"/>
            <a:ext cx="7422198" cy="1669511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818A8E-C912-9B8A-0BA6-CF47D9F9DA7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8A6B6-75FC-430F-9B8C-EC7071DEB4EB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7365BBC-5FC1-86D4-1BF6-287F95874C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8B0160-2556-F52D-8318-222D721090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6B1DE-87F1-4AA8-98B3-4F908DB1E7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962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94" y="672253"/>
            <a:ext cx="7414890" cy="3333256"/>
          </a:xfrm>
        </p:spPr>
        <p:txBody>
          <a:bodyPr anchor="ctr"/>
          <a:lstStyle>
            <a:lvl1pPr algn="l">
              <a:defRPr sz="485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2784" y="4425668"/>
            <a:ext cx="7422200" cy="567101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7">
                <a:solidFill>
                  <a:schemeClr val="accent1"/>
                </a:solidFill>
              </a:defRPr>
            </a:lvl1pPr>
            <a:lvl2pPr marL="504200" indent="0">
              <a:buFontTx/>
              <a:buNone/>
              <a:defRPr/>
            </a:lvl2pPr>
            <a:lvl3pPr marL="1008400" indent="0">
              <a:buFontTx/>
              <a:buNone/>
              <a:defRPr/>
            </a:lvl3pPr>
            <a:lvl4pPr marL="1512600" indent="0">
              <a:buFontTx/>
              <a:buNone/>
              <a:defRPr/>
            </a:lvl4pPr>
            <a:lvl5pPr marL="201680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786" y="4992769"/>
            <a:ext cx="7422198" cy="1669511"/>
          </a:xfrm>
        </p:spPr>
        <p:txBody>
          <a:bodyPr anchor="t"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074A-A3DE-7D8D-92A6-774AF8BD23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103EF7-EA3D-423C-93FD-4CFA78C39810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19AC3-32A6-824E-45F8-BFF0918FBC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AE7CA-9568-288A-9B12-A9FE909B73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1E97F-C1AE-4549-B7E6-A7C64A054B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14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0A33D-70C2-3958-1ED6-8743C6D49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C9464-5346-4031-B151-B3CE30C6E113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19CE-BBFF-494A-2EDF-512A8696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BC986-1C0F-E0C0-0620-C1842902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EF2510-F784-4524-BF29-90BD7F57E4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023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9097" y="672254"/>
            <a:ext cx="1144496" cy="579118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2786" y="672254"/>
            <a:ext cx="6074393" cy="57911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DEDC-FA0F-77FB-038D-033BF2AE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3DEA5-4462-4CC5-AB67-76E0461FB1C0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2E77D-71C5-1EE1-C443-723869D2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805A5-E8EF-4EB5-3975-83774017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68891-E407-4593-9CDB-229CB6B432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244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00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C5C92A58-275C-13EE-8E13-17FFAC1132E2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721975" cy="7581900"/>
            <a:chOff x="-8467" y="-8468"/>
            <a:chExt cx="9169805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88465A8-65A4-B898-BF8C-6FF0FC43A78D}"/>
                </a:ext>
              </a:extLst>
            </p:cNvPr>
            <p:cNvSpPr/>
            <p:nvPr/>
          </p:nvSpPr>
          <p:spPr>
            <a:xfrm>
              <a:off x="-8467" y="4013427"/>
              <a:ext cx="457540" cy="2853040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8B5007B-91F0-6B3B-F123-DC28F90086AF}"/>
                </a:ext>
              </a:extLst>
            </p:cNvPr>
            <p:cNvCxnSpPr/>
            <p:nvPr/>
          </p:nvCxnSpPr>
          <p:spPr>
            <a:xfrm flipV="1">
              <a:off x="5130371" y="4176088"/>
              <a:ext cx="4022820" cy="2681742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B55F81-EF78-3C34-C441-9ADE56EA96A2}"/>
                </a:ext>
              </a:extLst>
            </p:cNvPr>
            <p:cNvCxnSpPr/>
            <p:nvPr/>
          </p:nvCxnSpPr>
          <p:spPr>
            <a:xfrm>
              <a:off x="7043349" y="169"/>
              <a:ext cx="1219201" cy="6857661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199EDAC-6A28-19D8-A954-6D0ABD9B3D92}"/>
                </a:ext>
              </a:extLst>
            </p:cNvPr>
            <p:cNvSpPr/>
            <p:nvPr/>
          </p:nvSpPr>
          <p:spPr>
            <a:xfrm>
              <a:off x="6891289" y="169"/>
              <a:ext cx="2270049" cy="6866298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8F5A92C-2312-3490-4E69-07BE71572C83}"/>
                </a:ext>
              </a:extLst>
            </p:cNvPr>
            <p:cNvSpPr/>
            <p:nvPr/>
          </p:nvSpPr>
          <p:spPr>
            <a:xfrm>
              <a:off x="7204914" y="-8468"/>
              <a:ext cx="1948278" cy="6866298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AF8C176-F41A-75C2-80B6-2B0152B0B802}"/>
                </a:ext>
              </a:extLst>
            </p:cNvPr>
            <p:cNvSpPr/>
            <p:nvPr/>
          </p:nvSpPr>
          <p:spPr>
            <a:xfrm>
              <a:off x="6637402" y="3919861"/>
              <a:ext cx="2514433" cy="2937969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C3BAB07-31C3-9465-CFD1-6E421561860D}"/>
                </a:ext>
              </a:extLst>
            </p:cNvPr>
            <p:cNvSpPr/>
            <p:nvPr/>
          </p:nvSpPr>
          <p:spPr>
            <a:xfrm>
              <a:off x="7010765" y="-8468"/>
              <a:ext cx="2142427" cy="6866298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6BF9660-799A-A06C-5A03-443844C00E9D}"/>
                </a:ext>
              </a:extLst>
            </p:cNvPr>
            <p:cNvSpPr/>
            <p:nvPr/>
          </p:nvSpPr>
          <p:spPr>
            <a:xfrm>
              <a:off x="8295135" y="-8468"/>
              <a:ext cx="858057" cy="6866298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6932DB8-DC82-830A-880B-89A337A89019}"/>
                </a:ext>
              </a:extLst>
            </p:cNvPr>
            <p:cNvSpPr/>
            <p:nvPr/>
          </p:nvSpPr>
          <p:spPr>
            <a:xfrm>
              <a:off x="8077905" y="-8468"/>
              <a:ext cx="1065783" cy="6866298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19AA9C8-AB75-5CDD-0B35-E512EA2BA291}"/>
                </a:ext>
              </a:extLst>
            </p:cNvPr>
            <p:cNvSpPr/>
            <p:nvPr/>
          </p:nvSpPr>
          <p:spPr>
            <a:xfrm>
              <a:off x="8060256" y="4894386"/>
              <a:ext cx="1094294" cy="1963445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1BBDE-3018-0479-8DCB-F816A251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671513"/>
            <a:ext cx="7421562" cy="14573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E844F-6708-9554-5F9F-71103264B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788" y="2382838"/>
            <a:ext cx="7421562" cy="427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E2FF8-BB86-0377-501D-DEC3E01BA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19838" y="6662738"/>
            <a:ext cx="80010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3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8231D38-04B4-4049-AAA3-F83E8FA5971A}" type="datetimeFigureOut">
              <a:rPr lang="en-US"/>
              <a:pPr>
                <a:defRPr/>
              </a:pPr>
              <a:t>4/12/2026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2A05D-F930-192B-2A9D-97B0DD1BF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2788" y="6662738"/>
            <a:ext cx="5405437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3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D5723-3D85-5EE5-F15B-C00A0725F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35863" y="6662738"/>
            <a:ext cx="598487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3" smtClean="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DA76DC05-4488-48E1-B8DF-527B1AAD7A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9" r:id="rId11"/>
    <p:sldLayoutId id="2147483944" r:id="rId12"/>
    <p:sldLayoutId id="2147483950" r:id="rId13"/>
    <p:sldLayoutId id="2147483945" r:id="rId14"/>
    <p:sldLayoutId id="2147483946" r:id="rId15"/>
    <p:sldLayoutId id="2147483947" r:id="rId16"/>
    <p:sldLayoutId id="2147483951" r:id="rId17"/>
  </p:sldLayoutIdLst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9150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60475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853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3101" indent="-252100" algn="l" defTabSz="504200" rtl="0" eaLnBrk="1" latinLnBrk="0" hangingPunct="1">
        <a:spcBef>
          <a:spcPts val="110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7301" indent="-252100" algn="l" defTabSz="504200" rtl="0" eaLnBrk="1" latinLnBrk="0" hangingPunct="1">
        <a:spcBef>
          <a:spcPts val="110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81501" indent="-252100" algn="l" defTabSz="504200" rtl="0" eaLnBrk="1" latinLnBrk="0" hangingPunct="1">
        <a:spcBef>
          <a:spcPts val="110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5701" indent="-252100" algn="l" defTabSz="504200" rtl="0" eaLnBrk="1" latinLnBrk="0" hangingPunct="1">
        <a:spcBef>
          <a:spcPts val="1103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5042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BBB05B8C-779A-C46F-2053-6D1869BA4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279400"/>
            <a:ext cx="17319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Aft>
                <a:spcPts val="2313"/>
              </a:spcAft>
            </a:pPr>
            <a:r>
              <a:rPr lang="en-US" altLang="en-US" sz="2400" b="1">
                <a:solidFill>
                  <a:srgbClr val="0F4761"/>
                </a:solidFill>
                <a:latin typeface="Arial" panose="020B0604020202020204" pitchFamily="34" charset="0"/>
              </a:rPr>
              <a:t>Project Title : 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A650AB3-2618-EC78-0C56-006A3D046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1638300"/>
            <a:ext cx="10004425" cy="467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013"/>
              </a:lnSpc>
              <a:spcBef>
                <a:spcPts val="2313"/>
              </a:spcBef>
              <a:spcAft>
                <a:spcPts val="425"/>
              </a:spcAft>
            </a:pPr>
            <a:endParaRPr lang="en-US" altLang="en-US" sz="2400" b="1">
              <a:solidFill>
                <a:srgbClr val="0F4761"/>
              </a:solidFill>
              <a:latin typeface="Arial" panose="020B0604020202020204" pitchFamily="34" charset="0"/>
            </a:endParaRPr>
          </a:p>
          <a:p>
            <a:pPr algn="just" eaLnBrk="1" hangingPunct="1">
              <a:spcAft>
                <a:spcPts val="2313"/>
              </a:spcAft>
            </a:pPr>
            <a:endParaRPr lang="en-US" altLang="en-US" sz="24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0150C1C-B978-65EC-599E-3DB23F7EB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75" y="5535613"/>
            <a:ext cx="1768475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ts val="3575"/>
              </a:spcBef>
            </a:pPr>
            <a:endParaRPr lang="en-US" altLang="en-US" sz="2000" b="1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Box 3">
            <a:extLst>
              <a:ext uri="{FF2B5EF4-FFF2-40B4-BE49-F238E27FC236}">
                <a16:creationId xmlns:a16="http://schemas.microsoft.com/office/drawing/2014/main" id="{45B48E94-2BA1-1586-471C-0BED34116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0" y="1249363"/>
            <a:ext cx="691038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F4761"/>
                </a:solidFill>
                <a:latin typeface="Arial" panose="020B0604020202020204" pitchFamily="34" charset="0"/>
              </a:rPr>
              <a:t>**AI-Powered Demand Forecasting &amp; Inventory Optimization System**</a:t>
            </a:r>
            <a:endParaRPr lang="en-IN" altLang="en-US" sz="20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323E29-6999-7DF1-2FFE-B55A1BFAA430}"/>
              </a:ext>
            </a:extLst>
          </p:cNvPr>
          <p:cNvSpPr txBox="1"/>
          <p:nvPr/>
        </p:nvSpPr>
        <p:spPr>
          <a:xfrm>
            <a:off x="1382712" y="620713"/>
            <a:ext cx="6603819" cy="3372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2310"/>
              </a:spcAft>
              <a:defRPr/>
            </a:pPr>
            <a:r>
              <a:rPr lang="en-US" sz="2400" b="1" dirty="0">
                <a:solidFill>
                  <a:srgbClr val="0F4761"/>
                </a:solidFill>
                <a:latin typeface="Arial"/>
              </a:rPr>
              <a:t>Problem Statement</a:t>
            </a:r>
          </a:p>
          <a:p>
            <a:pPr marL="482600" algn="just" eaLnBrk="1" fontAlgn="auto" hangingPunct="1">
              <a:lnSpc>
                <a:spcPts val="30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Demand Vs Supply mismatch in warehouses</a:t>
            </a:r>
          </a:p>
          <a:p>
            <a:pPr marL="482600" algn="just" eaLnBrk="1" fontAlgn="auto" hangingPunct="1">
              <a:lnSpc>
                <a:spcPts val="304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High demand  Vs Low supply </a:t>
            </a:r>
            <a:r>
              <a:rPr lang="en-US" sz="2400" b="1" dirty="0">
                <a:solidFill>
                  <a:srgbClr val="0F4761"/>
                </a:solidFill>
                <a:latin typeface="Arial"/>
              </a:rPr>
              <a:t>X</a:t>
            </a:r>
          </a:p>
          <a:p>
            <a:pPr marL="482600" algn="just" eaLnBrk="1" fontAlgn="auto" hangingPunct="1">
              <a:lnSpc>
                <a:spcPts val="3048"/>
              </a:lnSpc>
              <a:spcBef>
                <a:spcPts val="0"/>
              </a:spcBef>
              <a:spcAft>
                <a:spcPts val="168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Low demand  Vs Overstock </a:t>
            </a:r>
            <a:r>
              <a:rPr lang="en-US" sz="2400" b="1" dirty="0">
                <a:solidFill>
                  <a:srgbClr val="0F4761"/>
                </a:solidFill>
                <a:latin typeface="Arial"/>
              </a:rPr>
              <a:t>X</a:t>
            </a:r>
          </a:p>
          <a:p>
            <a:pPr algn="just" eaLnBrk="1" fontAlgn="auto" hangingPunct="1">
              <a:spcBef>
                <a:spcPts val="0"/>
              </a:spcBef>
              <a:spcAft>
                <a:spcPts val="294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Result:</a:t>
            </a:r>
          </a:p>
          <a:p>
            <a:pPr marL="482600" algn="just" eaLnBrk="1" fontAlgn="auto" hangingPunct="1">
              <a:spcBef>
                <a:spcPts val="0"/>
              </a:spcBef>
              <a:spcAft>
                <a:spcPts val="840"/>
              </a:spcAft>
              <a:defRPr/>
            </a:pPr>
            <a:r>
              <a:rPr lang="en-US" sz="1600" dirty="0">
                <a:solidFill>
                  <a:srgbClr val="0F4761"/>
                </a:solidFill>
                <a:latin typeface="Arial"/>
              </a:rPr>
              <a:t>*    Inventory cost loss</a:t>
            </a:r>
          </a:p>
          <a:p>
            <a:pPr marL="482600" algn="just" eaLnBrk="1" fontAlgn="auto" hangingPunct="1">
              <a:spcBef>
                <a:spcPts val="0"/>
              </a:spcBef>
              <a:spcAft>
                <a:spcPts val="3570"/>
              </a:spcAft>
              <a:defRPr/>
            </a:pPr>
            <a:r>
              <a:rPr lang="en-US" sz="1600" dirty="0">
                <a:solidFill>
                  <a:srgbClr val="0F4761"/>
                </a:solidFill>
                <a:latin typeface="Arial"/>
              </a:rPr>
              <a:t>*    Inefficient supply chain</a:t>
            </a:r>
            <a:endParaRPr lang="en-IN" dirty="0">
              <a:latin typeface="+mn-lt"/>
            </a:endParaRPr>
          </a:p>
        </p:txBody>
      </p:sp>
      <p:sp>
        <p:nvSpPr>
          <p:cNvPr id="7171" name="TextBox 4">
            <a:extLst>
              <a:ext uri="{FF2B5EF4-FFF2-40B4-BE49-F238E27FC236}">
                <a16:creationId xmlns:a16="http://schemas.microsoft.com/office/drawing/2014/main" id="{8E9FAB37-E143-D9E0-75B2-29113CF1F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3" y="4672013"/>
            <a:ext cx="5346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spcBef>
                <a:spcPts val="3575"/>
              </a:spcBef>
            </a:pPr>
            <a:r>
              <a:rPr lang="en-US" altLang="en-US" b="1">
                <a:solidFill>
                  <a:srgbClr val="0F4761"/>
                </a:solidFill>
                <a:latin typeface="Arial" panose="020B0604020202020204" pitchFamily="34" charset="0"/>
              </a:rPr>
              <a:t>Business Goal</a:t>
            </a:r>
          </a:p>
        </p:txBody>
      </p:sp>
      <p:sp>
        <p:nvSpPr>
          <p:cNvPr id="7172" name="TextBox 6">
            <a:extLst>
              <a:ext uri="{FF2B5EF4-FFF2-40B4-BE49-F238E27FC236}">
                <a16:creationId xmlns:a16="http://schemas.microsoft.com/office/drawing/2014/main" id="{06C682D6-5D2C-09D6-6564-00A4D5842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233988"/>
            <a:ext cx="5346700" cy="149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788"/>
              </a:lnSpc>
            </a:pPr>
            <a:r>
              <a:rPr lang="en-US" altLang="en-US" dirty="0">
                <a:solidFill>
                  <a:srgbClr val="0F4761"/>
                </a:solidFill>
                <a:latin typeface="Arial" panose="020B0604020202020204" pitchFamily="34" charset="0"/>
              </a:rPr>
              <a:t>*    Improve warehouse efficiency</a:t>
            </a:r>
          </a:p>
          <a:p>
            <a:pPr algn="just" eaLnBrk="1" hangingPunct="1">
              <a:lnSpc>
                <a:spcPts val="2788"/>
              </a:lnSpc>
            </a:pPr>
            <a:r>
              <a:rPr lang="en-US" altLang="en-US" dirty="0">
                <a:solidFill>
                  <a:srgbClr val="0F4761"/>
                </a:solidFill>
                <a:latin typeface="Arial" panose="020B0604020202020204" pitchFamily="34" charset="0"/>
              </a:rPr>
              <a:t>*    Predict  demand accurately</a:t>
            </a:r>
          </a:p>
          <a:p>
            <a:pPr algn="just" eaLnBrk="1" hangingPunct="1">
              <a:lnSpc>
                <a:spcPts val="2788"/>
              </a:lnSpc>
            </a:pPr>
            <a:r>
              <a:rPr lang="en-US" altLang="en-US" dirty="0">
                <a:solidFill>
                  <a:srgbClr val="0F4761"/>
                </a:solidFill>
                <a:latin typeface="Arial" panose="020B0604020202020204" pitchFamily="34" charset="0"/>
              </a:rPr>
              <a:t>*    Reduce stock-out &amp; overstock</a:t>
            </a:r>
          </a:p>
          <a:p>
            <a:pPr eaLnBrk="1" hangingPunct="1">
              <a:lnSpc>
                <a:spcPts val="2788"/>
              </a:lnSpc>
              <a:spcAft>
                <a:spcPts val="2100"/>
              </a:spcAft>
            </a:pPr>
            <a:r>
              <a:rPr lang="en-US" altLang="en-US" dirty="0">
                <a:solidFill>
                  <a:srgbClr val="0F4761"/>
                </a:solidFill>
                <a:latin typeface="Arial" panose="020B0604020202020204" pitchFamily="34" charset="0"/>
              </a:rPr>
              <a:t>*    Enable data – driven decision making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B12F9A5-6854-F632-1EBD-E08760D89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-625475"/>
            <a:ext cx="2862263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788"/>
              </a:lnSpc>
            </a:pPr>
            <a:endParaRPr lang="en-US" altLang="en-US" sz="16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DB74750-DCFF-EC7C-1E9B-7E91C2B99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82600"/>
            <a:ext cx="6043612" cy="503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725"/>
              </a:spcBef>
              <a:spcAft>
                <a:spcPts val="2100"/>
              </a:spcAft>
            </a:pPr>
            <a:r>
              <a:rPr lang="en-US" altLang="en-US" sz="2000" b="1" dirty="0">
                <a:solidFill>
                  <a:srgbClr val="0F4761"/>
                </a:solidFill>
                <a:latin typeface="Arial" panose="020B0604020202020204" pitchFamily="34" charset="0"/>
              </a:rPr>
              <a:t>Solution Overview</a:t>
            </a:r>
          </a:p>
          <a:p>
            <a:pPr algn="just" eaLnBrk="1" hangingPunct="1">
              <a:lnSpc>
                <a:spcPts val="2788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1.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Machine Learning Model</a:t>
            </a:r>
          </a:p>
          <a:p>
            <a:pPr algn="just" eaLnBrk="1" hangingPunct="1">
              <a:lnSpc>
                <a:spcPts val="2788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2.    Business Logic Layer</a:t>
            </a:r>
          </a:p>
          <a:p>
            <a:pPr eaLnBrk="1" hangingPunct="1">
              <a:lnSpc>
                <a:spcPts val="2788"/>
              </a:lnSpc>
              <a:spcAft>
                <a:spcPts val="2100"/>
              </a:spcAft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3.    Visualization Dashboard</a:t>
            </a:r>
          </a:p>
          <a:p>
            <a:pPr eaLnBrk="1" hangingPunct="1">
              <a:lnSpc>
                <a:spcPts val="2788"/>
              </a:lnSpc>
              <a:spcAft>
                <a:spcPts val="2100"/>
              </a:spcAft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rgbClr val="0F4761"/>
                </a:solidFill>
                <a:latin typeface="Arial" panose="020B0604020202020204" pitchFamily="34" charset="0"/>
              </a:rPr>
              <a:t>End-to-end Decision Support  System</a:t>
            </a:r>
          </a:p>
          <a:p>
            <a:pPr eaLnBrk="1" hangingPunct="1">
              <a:spcAft>
                <a:spcPts val="2100"/>
              </a:spcAft>
            </a:pPr>
            <a:r>
              <a:rPr lang="en-US" altLang="en-US" sz="2000" b="1" dirty="0">
                <a:solidFill>
                  <a:srgbClr val="0F4761"/>
                </a:solidFill>
                <a:latin typeface="Arial" panose="020B0604020202020204" pitchFamily="34" charset="0"/>
              </a:rPr>
              <a:t>Data &amp; Features</a:t>
            </a:r>
          </a:p>
          <a:p>
            <a:pPr algn="just" eaLnBrk="1" hangingPunct="1">
              <a:lnSpc>
                <a:spcPts val="2763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Retail Shops</a:t>
            </a:r>
          </a:p>
          <a:p>
            <a:pPr algn="just" eaLnBrk="1" hangingPunct="1">
              <a:lnSpc>
                <a:spcPts val="2763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Warehouse Capacity</a:t>
            </a:r>
          </a:p>
          <a:p>
            <a:pPr algn="just" eaLnBrk="1" hangingPunct="1">
              <a:lnSpc>
                <a:spcPts val="2763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Workers</a:t>
            </a:r>
          </a:p>
          <a:p>
            <a:pPr algn="just" eaLnBrk="1" hangingPunct="1">
              <a:lnSpc>
                <a:spcPts val="2763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Distance from Hub</a:t>
            </a:r>
          </a:p>
          <a:p>
            <a:pPr eaLnBrk="1" hangingPunct="1">
              <a:lnSpc>
                <a:spcPts val="2763"/>
              </a:lnSpc>
              <a:spcAft>
                <a:spcPts val="2100"/>
              </a:spcAft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External factors (flood, electricity, etc.) </a:t>
            </a:r>
          </a:p>
          <a:p>
            <a:pPr eaLnBrk="1" hangingPunct="1">
              <a:lnSpc>
                <a:spcPts val="2763"/>
              </a:lnSpc>
              <a:spcAft>
                <a:spcPts val="2100"/>
              </a:spcAft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Feature Engineering applied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9BE229D5-4EB6-3E27-1671-0DABF764C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8088" y="6805613"/>
            <a:ext cx="24606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100"/>
              </a:spcBef>
            </a:pPr>
            <a:endParaRPr lang="en-US" altLang="en-US" sz="2000" b="1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2">
            <a:extLst>
              <a:ext uri="{FF2B5EF4-FFF2-40B4-BE49-F238E27FC236}">
                <a16:creationId xmlns:a16="http://schemas.microsoft.com/office/drawing/2014/main" id="{548A3AF7-AEAF-BDAA-7624-63FB4CDA0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304800"/>
            <a:ext cx="5346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100"/>
              </a:spcBef>
            </a:pPr>
            <a:r>
              <a:rPr lang="en-US" altLang="en-US" b="1">
                <a:solidFill>
                  <a:srgbClr val="0F4761"/>
                </a:solidFill>
                <a:latin typeface="Arial" panose="020B0604020202020204" pitchFamily="34" charset="0"/>
              </a:rPr>
              <a:t>Feature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6D733-3B60-88A5-8FCF-B4E95721AEA5}"/>
              </a:ext>
            </a:extLst>
          </p:cNvPr>
          <p:cNvSpPr txBox="1"/>
          <p:nvPr/>
        </p:nvSpPr>
        <p:spPr>
          <a:xfrm>
            <a:off x="1446213" y="919163"/>
            <a:ext cx="5346700" cy="256275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algn="just" eaLnBrk="1" fontAlgn="auto" hangingPunct="1">
              <a:lnSpc>
                <a:spcPts val="2788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b="1" dirty="0">
                <a:solidFill>
                  <a:srgbClr val="0F4761"/>
                </a:solidFill>
                <a:latin typeface="Arial" panose="020B0604020202020204" pitchFamily="34" charset="0"/>
              </a:rPr>
              <a:t>Warehouse Efficiency = Stock / Capacity</a:t>
            </a:r>
          </a:p>
          <a:p>
            <a:pPr marL="285750" indent="-285750" algn="just" eaLnBrk="1" fontAlgn="auto" hangingPunct="1">
              <a:lnSpc>
                <a:spcPts val="2788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Demand indicators created </a:t>
            </a:r>
          </a:p>
          <a:p>
            <a:pPr marL="285750" indent="-285750" algn="just" eaLnBrk="1" fontAlgn="auto" hangingPunct="1">
              <a:lnSpc>
                <a:spcPts val="2788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Missing values handled </a:t>
            </a:r>
          </a:p>
          <a:p>
            <a:pPr marL="285750" indent="-285750" algn="just" eaLnBrk="1" fontAlgn="auto" hangingPunct="1">
              <a:lnSpc>
                <a:spcPts val="2788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Categorical encoding applied </a:t>
            </a:r>
          </a:p>
          <a:p>
            <a:pPr algn="just" eaLnBrk="1" fontAlgn="auto" hangingPunct="1">
              <a:lnSpc>
                <a:spcPts val="2788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en-US" sz="1600" dirty="0">
              <a:solidFill>
                <a:srgbClr val="0F4761"/>
              </a:solidFill>
              <a:latin typeface="Arial" panose="020B0604020202020204" pitchFamily="34" charset="0"/>
            </a:endParaRPr>
          </a:p>
          <a:p>
            <a:pPr algn="just" eaLnBrk="1" fontAlgn="auto" hangingPunct="1">
              <a:lnSpc>
                <a:spcPts val="278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Improves model performance</a:t>
            </a:r>
          </a:p>
          <a:p>
            <a:pPr marL="285750" indent="-285750" algn="just" eaLnBrk="1" fontAlgn="auto" hangingPunct="1">
              <a:lnSpc>
                <a:spcPts val="2788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DDC05F-5433-F91F-DE39-65C5480E04C5}"/>
              </a:ext>
            </a:extLst>
          </p:cNvPr>
          <p:cNvSpPr txBox="1"/>
          <p:nvPr/>
        </p:nvSpPr>
        <p:spPr>
          <a:xfrm>
            <a:off x="177800" y="3200400"/>
            <a:ext cx="7415192" cy="3627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fontAlgn="auto" hangingPunct="1">
              <a:lnSpc>
                <a:spcPts val="2788"/>
              </a:lnSpc>
              <a:spcBef>
                <a:spcPts val="0"/>
              </a:spcBef>
              <a:spcAft>
                <a:spcPts val="21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b="1" dirty="0">
                <a:solidFill>
                  <a:srgbClr val="0F4761"/>
                </a:solidFill>
                <a:latin typeface="Arial" panose="020B0604020202020204" pitchFamily="34" charset="0"/>
              </a:rPr>
              <a:t>Model Selection</a:t>
            </a:r>
          </a:p>
          <a:p>
            <a:pPr eaLnBrk="1" fontAlgn="auto" hangingPunct="1">
              <a:lnSpc>
                <a:spcPts val="2788"/>
              </a:lnSpc>
              <a:spcBef>
                <a:spcPts val="0"/>
              </a:spcBef>
              <a:spcAft>
                <a:spcPts val="2100"/>
              </a:spcAft>
              <a:defRPr/>
            </a:pPr>
            <a:r>
              <a:rPr lang="en-US" altLang="en-US" dirty="0">
                <a:solidFill>
                  <a:srgbClr val="0F4761"/>
                </a:solidFill>
                <a:latin typeface="Arial" panose="020B0604020202020204" pitchFamily="34" charset="0"/>
              </a:rPr>
              <a:t> I selected Random Forest after comparing with Multiple models  </a:t>
            </a:r>
          </a:p>
          <a:p>
            <a:pPr lvl="1" eaLnBrk="1" fontAlgn="auto" hangingPunct="1">
              <a:lnSpc>
                <a:spcPts val="2788"/>
              </a:lnSpc>
              <a:spcBef>
                <a:spcPts val="0"/>
              </a:spcBef>
              <a:spcAft>
                <a:spcPts val="2100"/>
              </a:spcAft>
              <a:defRPr/>
            </a:pPr>
            <a:r>
              <a:rPr lang="en-US" altLang="en-US" dirty="0">
                <a:solidFill>
                  <a:srgbClr val="0F4761"/>
                </a:solidFill>
                <a:latin typeface="Arial" panose="020B0604020202020204" pitchFamily="34" charset="0"/>
              </a:rPr>
              <a:t>Why Random Forest  ?</a:t>
            </a:r>
          </a:p>
          <a:p>
            <a:pPr algn="just" eaLnBrk="1" fontAlgn="auto" hangingPunct="1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Handles non-linear Relationships</a:t>
            </a:r>
          </a:p>
          <a:p>
            <a:pPr algn="just" eaLnBrk="1" fontAlgn="auto" hangingPunct="1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Better accuracy</a:t>
            </a:r>
          </a:p>
          <a:p>
            <a:pPr algn="just" eaLnBrk="1" fontAlgn="auto" hangingPunct="1">
              <a:lnSpc>
                <a:spcPts val="2550"/>
              </a:lnSpc>
              <a:spcBef>
                <a:spcPts val="0"/>
              </a:spcBef>
              <a:spcAft>
                <a:spcPts val="2725"/>
              </a:spcAft>
              <a:defRPr/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Robust to noise &amp; outliers</a:t>
            </a:r>
          </a:p>
          <a:p>
            <a:pPr algn="just" eaLnBrk="1" fontAlgn="auto" hangingPunct="1">
              <a:lnSpc>
                <a:spcPts val="2550"/>
              </a:lnSpc>
              <a:spcBef>
                <a:spcPts val="0"/>
              </a:spcBef>
              <a:spcAft>
                <a:spcPts val="2725"/>
              </a:spcAft>
              <a:defRPr/>
            </a:pPr>
            <a:endParaRPr lang="en-IN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7B02FEFC-4C9E-11CA-8A5F-8A64ACBD3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-628650"/>
            <a:ext cx="4151313" cy="463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79425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788"/>
              </a:lnSpc>
            </a:pPr>
            <a:endParaRPr lang="en-US" altLang="en-US" sz="14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C0FC50-428E-B310-5062-AC3FC6F0A3EA}"/>
              </a:ext>
            </a:extLst>
          </p:cNvPr>
          <p:cNvSpPr/>
          <p:nvPr/>
        </p:nvSpPr>
        <p:spPr>
          <a:xfrm>
            <a:off x="488949" y="280988"/>
            <a:ext cx="5864225" cy="1719262"/>
          </a:xfrm>
          <a:prstGeom prst="rect">
            <a:avLst/>
          </a:prstGeom>
        </p:spPr>
        <p:txBody>
          <a:bodyPr lIns="0" tIns="0" rIns="0" bIns="0"/>
          <a:lstStyle/>
          <a:p>
            <a:pPr eaLnBrk="1" fontAlgn="auto" hangingPunct="1">
              <a:spcBef>
                <a:spcPts val="2730"/>
              </a:spcBef>
              <a:spcAft>
                <a:spcPts val="2100"/>
              </a:spcAft>
              <a:defRPr/>
            </a:pPr>
            <a:r>
              <a:rPr lang="en-US" sz="2000" b="1" dirty="0">
                <a:solidFill>
                  <a:srgbClr val="0F4761"/>
                </a:solidFill>
                <a:latin typeface="Arial"/>
              </a:rPr>
              <a:t>Model Evaluation</a:t>
            </a:r>
          </a:p>
          <a:p>
            <a:pPr marL="467360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0F4761"/>
                </a:solidFill>
                <a:latin typeface="Arial"/>
              </a:rPr>
              <a:t>	*    MAE  (Mean Absolute Error)</a:t>
            </a:r>
          </a:p>
          <a:p>
            <a:pPr marL="467360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0F4761"/>
                </a:solidFill>
                <a:latin typeface="Arial"/>
              </a:rPr>
              <a:t>	*    RMSE (Root Mean Square Error)</a:t>
            </a:r>
          </a:p>
          <a:p>
            <a:pPr marL="467360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0F4761"/>
                </a:solidFill>
                <a:latin typeface="Arial"/>
              </a:rPr>
              <a:t>	*    R</a:t>
            </a:r>
            <a:r>
              <a:rPr lang="en-US" sz="1600" baseline="30000" dirty="0">
                <a:solidFill>
                  <a:srgbClr val="0F4761"/>
                </a:solidFill>
                <a:latin typeface="Arial"/>
              </a:rPr>
              <a:t>2</a:t>
            </a:r>
            <a:r>
              <a:rPr lang="en-US" sz="1600" dirty="0">
                <a:solidFill>
                  <a:srgbClr val="0F4761"/>
                </a:solidFill>
                <a:latin typeface="Arial"/>
              </a:rPr>
              <a:t> Score</a:t>
            </a:r>
          </a:p>
          <a:p>
            <a:pPr marL="467360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2730"/>
              </a:spcAft>
              <a:defRPr/>
            </a:pPr>
            <a:r>
              <a:rPr lang="en-US" sz="1600" dirty="0">
                <a:solidFill>
                  <a:srgbClr val="0F4761"/>
                </a:solidFill>
                <a:latin typeface="Arial"/>
              </a:rPr>
              <a:t>	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2F01555-CBCE-A6F0-B061-717BA733E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2636838"/>
            <a:ext cx="8898178" cy="5014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725"/>
              </a:spcBef>
            </a:pPr>
            <a:r>
              <a:rPr lang="en-US" altLang="en-US" sz="2000" b="1" dirty="0">
                <a:solidFill>
                  <a:srgbClr val="0F4761"/>
                </a:solidFill>
                <a:latin typeface="Arial" panose="020B0604020202020204" pitchFamily="34" charset="0"/>
              </a:rPr>
              <a:t>Business Logic Layer : </a:t>
            </a:r>
          </a:p>
          <a:p>
            <a:pPr eaLnBrk="1" hangingPunct="1">
              <a:spcBef>
                <a:spcPts val="2725"/>
              </a:spcBef>
            </a:pPr>
            <a:r>
              <a:rPr lang="en-US" altLang="en-US" sz="2000" dirty="0">
                <a:solidFill>
                  <a:srgbClr val="0F4761"/>
                </a:solidFill>
                <a:latin typeface="Arial" panose="020B0604020202020204" pitchFamily="34" charset="0"/>
              </a:rPr>
              <a:t>Model prediction alone is not enough , so I built a business logic layer </a:t>
            </a:r>
          </a:p>
          <a:p>
            <a:pPr eaLnBrk="1" hangingPunct="1">
              <a:spcBef>
                <a:spcPts val="2725"/>
              </a:spcBef>
            </a:pPr>
            <a:endParaRPr lang="en-US" altLang="en-US" sz="2000" b="1" dirty="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0245" name="TextBox 4">
            <a:extLst>
              <a:ext uri="{FF2B5EF4-FFF2-40B4-BE49-F238E27FC236}">
                <a16:creationId xmlns:a16="http://schemas.microsoft.com/office/drawing/2014/main" id="{5E887380-1F42-5B77-26FE-F73002DAD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525" y="1908175"/>
            <a:ext cx="534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F4761"/>
                </a:solidFill>
                <a:latin typeface="Arial" panose="020B0604020202020204" pitchFamily="34" charset="0"/>
              </a:rPr>
              <a:t>Convert predictions into actionable decisions </a:t>
            </a:r>
            <a:endParaRPr lang="en-I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96238-4C22-BDC9-0CEC-0783775993B1}"/>
              </a:ext>
            </a:extLst>
          </p:cNvPr>
          <p:cNvSpPr txBox="1"/>
          <p:nvPr/>
        </p:nvSpPr>
        <p:spPr>
          <a:xfrm>
            <a:off x="0" y="3627438"/>
            <a:ext cx="7026275" cy="368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2940"/>
              </a:spcBef>
              <a:spcAft>
                <a:spcPts val="2940"/>
              </a:spcAft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Status:</a:t>
            </a:r>
          </a:p>
          <a:p>
            <a:pPr marL="492252" algn="just" eaLnBrk="1" fontAlgn="auto" hangingPunct="1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IF Demand &gt; Stock </a:t>
            </a:r>
            <a:r>
              <a:rPr lang="en-US" dirty="0">
                <a:solidFill>
                  <a:srgbClr val="0F4761"/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lang="en-IN" dirty="0"/>
              <a:t>🔴 Stock - Out</a:t>
            </a:r>
            <a:endParaRPr lang="en-US" dirty="0">
              <a:solidFill>
                <a:srgbClr val="0F4761"/>
              </a:solidFill>
              <a:latin typeface="Arial"/>
            </a:endParaRPr>
          </a:p>
          <a:p>
            <a:pPr marL="492252" algn="just" eaLnBrk="1" fontAlgn="auto" hangingPunct="1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IF Demand &lt; Stock </a:t>
            </a:r>
            <a:r>
              <a:rPr lang="en-US" dirty="0">
                <a:solidFill>
                  <a:srgbClr val="0F4761"/>
                </a:solidFill>
                <a:latin typeface="Arial"/>
                <a:sym typeface="Wingdings" panose="05000000000000000000" pitchFamily="2" charset="2"/>
              </a:rPr>
              <a:t>  🟡 Overstock </a:t>
            </a:r>
            <a:endParaRPr lang="en-US" dirty="0">
              <a:solidFill>
                <a:srgbClr val="0F4761"/>
              </a:solidFill>
              <a:latin typeface="Arial"/>
            </a:endParaRPr>
          </a:p>
          <a:p>
            <a:pPr marL="492252" algn="just" eaLnBrk="1" fontAlgn="auto" hangingPunct="1">
              <a:lnSpc>
                <a:spcPts val="2808"/>
              </a:lnSpc>
              <a:spcBef>
                <a:spcPts val="0"/>
              </a:spcBef>
              <a:spcAft>
                <a:spcPts val="168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ELSE </a:t>
            </a:r>
            <a:r>
              <a:rPr lang="en-US" dirty="0">
                <a:solidFill>
                  <a:srgbClr val="0F4761"/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lang="en-IN" dirty="0"/>
              <a:t>🟢 Balanced </a:t>
            </a:r>
            <a:endParaRPr lang="en-US" dirty="0">
              <a:solidFill>
                <a:srgbClr val="0F4761"/>
              </a:solidFill>
              <a:latin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2940"/>
              </a:spcAft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Action:</a:t>
            </a:r>
          </a:p>
          <a:p>
            <a:pPr marL="492252" algn="just" eaLnBrk="1" fontAlgn="auto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Increase supply</a:t>
            </a:r>
          </a:p>
          <a:p>
            <a:pPr marL="492252" algn="just" eaLnBrk="1" fontAlgn="auto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Transfer stock</a:t>
            </a:r>
          </a:p>
          <a:p>
            <a:pPr marL="492252" algn="just" eaLnBrk="1" fontAlgn="auto" hangingPunct="1">
              <a:lnSpc>
                <a:spcPts val="2520"/>
              </a:lnSpc>
              <a:spcBef>
                <a:spcPts val="0"/>
              </a:spcBef>
              <a:spcAft>
                <a:spcPts val="231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No action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25D6858D-6350-2834-01B4-820E265AC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-628650"/>
            <a:ext cx="32607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Aft>
                <a:spcPts val="2938"/>
              </a:spcAft>
            </a:pPr>
            <a:endParaRPr lang="en-US" altLang="en-US" sz="16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3DA2CEA-2586-4E98-2F1D-1C10AD754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9038" y="79375"/>
            <a:ext cx="1857375" cy="416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938"/>
              </a:spcBef>
              <a:spcAft>
                <a:spcPts val="2938"/>
              </a:spcAft>
            </a:pPr>
            <a:endParaRPr lang="en-US" altLang="en-US" sz="14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4F82A859-1ABB-AC85-CEBB-1C1C63AF3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63" y="493713"/>
            <a:ext cx="4884737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313"/>
              </a:spcBef>
              <a:spcAft>
                <a:spcPts val="2313"/>
              </a:spcAft>
            </a:pPr>
            <a:r>
              <a:rPr lang="en-US" altLang="en-US" sz="2000" b="1" dirty="0">
                <a:solidFill>
                  <a:srgbClr val="0F4761"/>
                </a:solidFill>
                <a:latin typeface="Arial" panose="020B0604020202020204" pitchFamily="34" charset="0"/>
              </a:rPr>
              <a:t>Final Output Example</a:t>
            </a:r>
          </a:p>
          <a:p>
            <a:pPr algn="just" eaLnBrk="1" hangingPunct="1">
              <a:lnSpc>
                <a:spcPts val="2788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Predicted Demand: 745.5K tons</a:t>
            </a:r>
          </a:p>
          <a:p>
            <a:pPr algn="just" eaLnBrk="1" hangingPunct="1">
              <a:lnSpc>
                <a:spcPts val="2788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Current Stock: 27.9K tons</a:t>
            </a:r>
          </a:p>
          <a:p>
            <a:pPr eaLnBrk="1" hangingPunct="1">
              <a:lnSpc>
                <a:spcPts val="2788"/>
              </a:lnSpc>
            </a:pPr>
            <a:r>
              <a:rPr lang="en-US" altLang="en-US" sz="1600" dirty="0">
                <a:solidFill>
                  <a:srgbClr val="0F4761"/>
                </a:solidFill>
                <a:latin typeface="Arial" panose="020B0604020202020204" pitchFamily="34" charset="0"/>
              </a:rPr>
              <a:t>	*    Gap: 717.6K tons</a:t>
            </a:r>
            <a:endParaRPr lang="en-US" altLang="en-US" sz="1400" dirty="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6F4AA-7179-0C76-D317-C6248A41D06E}"/>
              </a:ext>
            </a:extLst>
          </p:cNvPr>
          <p:cNvSpPr txBox="1"/>
          <p:nvPr/>
        </p:nvSpPr>
        <p:spPr>
          <a:xfrm>
            <a:off x="714375" y="2314575"/>
            <a:ext cx="5346700" cy="2728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sz="2000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Status: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	Stock-out </a:t>
            </a:r>
            <a:r>
              <a:rPr lang="en-IN" kern="100" dirty="0">
                <a:solidFill>
                  <a:srgbClr val="0F4761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🔴</a:t>
            </a:r>
            <a:endParaRPr lang="en-IN" kern="100" dirty="0">
              <a:solidFill>
                <a:srgbClr val="0F4761"/>
              </a:solidFill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sz="2000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Alert: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	Immediate supply required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sz="2000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Recommendation: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	Increase stock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055842DD-8755-703E-74E3-AF02BBA52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393700"/>
            <a:ext cx="25765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F4761"/>
                </a:solidFill>
                <a:latin typeface="Arial" panose="020B0604020202020204" pitchFamily="34" charset="0"/>
              </a:rPr>
              <a:t>Streamlit App Output :</a:t>
            </a:r>
          </a:p>
        </p:txBody>
      </p:sp>
      <p:sp>
        <p:nvSpPr>
          <p:cNvPr id="12291" name="TextBox 4">
            <a:extLst>
              <a:ext uri="{FF2B5EF4-FFF2-40B4-BE49-F238E27FC236}">
                <a16:creationId xmlns:a16="http://schemas.microsoft.com/office/drawing/2014/main" id="{6D477BFB-C52A-7D9E-2BEA-2A0616A8B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338" y="971550"/>
            <a:ext cx="5346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F4761"/>
                </a:solidFill>
                <a:latin typeface="Arial" panose="020B0604020202020204" pitchFamily="34" charset="0"/>
              </a:rPr>
              <a:t>User Inputs</a:t>
            </a: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12292" name="TextBox 6">
            <a:extLst>
              <a:ext uri="{FF2B5EF4-FFF2-40B4-BE49-F238E27FC236}">
                <a16:creationId xmlns:a16="http://schemas.microsoft.com/office/drawing/2014/main" id="{C7E3C0A6-9552-58F3-D65A-086697FEE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538" y="1171575"/>
            <a:ext cx="5346700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525"/>
              </a:lnSpc>
            </a:pPr>
            <a:endParaRPr lang="en-US" altLang="en-US">
              <a:solidFill>
                <a:srgbClr val="0F476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ts val="2525"/>
              </a:lnSpc>
            </a:pP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*    Retail Shops: 50</a:t>
            </a:r>
          </a:p>
          <a:p>
            <a:pPr algn="just" eaLnBrk="1" hangingPunct="1">
              <a:lnSpc>
                <a:spcPts val="2525"/>
              </a:lnSpc>
            </a:pP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*    Warehouse Capacity: 500</a:t>
            </a:r>
          </a:p>
          <a:p>
            <a:pPr algn="just" eaLnBrk="1" hangingPunct="1">
              <a:lnSpc>
                <a:spcPts val="2525"/>
              </a:lnSpc>
            </a:pP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*    Workers: 10</a:t>
            </a:r>
          </a:p>
          <a:p>
            <a:pPr algn="just" eaLnBrk="1" hangingPunct="1">
              <a:lnSpc>
                <a:spcPts val="2525"/>
              </a:lnSpc>
              <a:spcAft>
                <a:spcPts val="1888"/>
              </a:spcAft>
            </a:pP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*    Distance from Hub: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0104E-5AEF-3FF8-18BE-E9B3CBD0FF93}"/>
              </a:ext>
            </a:extLst>
          </p:cNvPr>
          <p:cNvSpPr txBox="1"/>
          <p:nvPr/>
        </p:nvSpPr>
        <p:spPr>
          <a:xfrm>
            <a:off x="1049338" y="3040063"/>
            <a:ext cx="5346700" cy="24368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1890"/>
              </a:spcBef>
              <a:spcAft>
                <a:spcPts val="2730"/>
              </a:spcAft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System Output:</a:t>
            </a:r>
          </a:p>
          <a:p>
            <a:pPr marL="469900" algn="just" eaLnBrk="1" fontAlgn="auto" hangingPunct="1">
              <a:spcBef>
                <a:spcPts val="0"/>
              </a:spcBef>
              <a:spcAft>
                <a:spcPts val="84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Predicted Demand: **6727.39 tons**</a:t>
            </a:r>
          </a:p>
          <a:p>
            <a:pPr marL="469900" algn="just" eaLnBrk="1" fontAlgn="auto" hangingPunct="1">
              <a:spcBef>
                <a:spcPts val="0"/>
              </a:spcBef>
              <a:spcAft>
                <a:spcPts val="84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Status: **Stock-out </a:t>
            </a:r>
            <a:r>
              <a:rPr lang="en-IN" dirty="0"/>
              <a:t>🔴</a:t>
            </a:r>
            <a:r>
              <a:rPr lang="en-US" dirty="0">
                <a:solidFill>
                  <a:srgbClr val="0F4761"/>
                </a:solidFill>
                <a:latin typeface="Arial"/>
              </a:rPr>
              <a:t>**</a:t>
            </a:r>
          </a:p>
          <a:p>
            <a:pPr marL="469900" algn="just" eaLnBrk="1" fontAlgn="auto" hangingPunct="1">
              <a:spcBef>
                <a:spcPts val="0"/>
              </a:spcBef>
              <a:spcAft>
                <a:spcPts val="273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Gap: **6527.38 tons**</a:t>
            </a:r>
          </a:p>
          <a:p>
            <a:pPr eaLnBrk="1" fontAlgn="auto" hangingPunct="1">
              <a:spcBef>
                <a:spcPts val="0"/>
              </a:spcBef>
              <a:spcAft>
                <a:spcPts val="2730"/>
              </a:spcAft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Business Insight:</a:t>
            </a:r>
          </a:p>
        </p:txBody>
      </p:sp>
      <p:sp>
        <p:nvSpPr>
          <p:cNvPr id="12295" name="TextBox 12">
            <a:extLst>
              <a:ext uri="{FF2B5EF4-FFF2-40B4-BE49-F238E27FC236}">
                <a16:creationId xmlns:a16="http://schemas.microsoft.com/office/drawing/2014/main" id="{70B10469-2A24-AC20-850D-05273F0D5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538" y="5476875"/>
            <a:ext cx="53467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Aft>
                <a:spcPts val="2725"/>
              </a:spcAft>
            </a:pPr>
            <a:r>
              <a:rPr lang="en-IN" altLang="en-US"/>
              <a:t>Increase supply in high-demand zones and optimize inventory allocation</a:t>
            </a:r>
            <a:endParaRPr lang="en-US" altLang="en-US" sz="20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BA74E4-9EFE-DCEE-80A9-490297F488E5}"/>
              </a:ext>
            </a:extLst>
          </p:cNvPr>
          <p:cNvSpPr txBox="1"/>
          <p:nvPr/>
        </p:nvSpPr>
        <p:spPr>
          <a:xfrm>
            <a:off x="855663" y="6153150"/>
            <a:ext cx="5346700" cy="411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sz="2000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   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>
            <a:extLst>
              <a:ext uri="{FF2B5EF4-FFF2-40B4-BE49-F238E27FC236}">
                <a16:creationId xmlns:a16="http://schemas.microsoft.com/office/drawing/2014/main" id="{3540E32E-014C-D31E-F391-62E06C714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0" y="-392113"/>
            <a:ext cx="1093788" cy="22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endParaRPr lang="en-US" altLang="en-US" sz="16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8811465-F2C8-9AE1-B5C0-EA0526B25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71438"/>
            <a:ext cx="5859463" cy="689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525"/>
              </a:lnSpc>
            </a:pPr>
            <a:endParaRPr lang="en-US" altLang="en-US" sz="14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29DC627D-BC78-F93A-DABB-9338FAEE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1722438"/>
            <a:ext cx="3471863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1888"/>
              </a:spcBef>
              <a:spcAft>
                <a:spcPts val="2725"/>
              </a:spcAft>
            </a:pPr>
            <a:endParaRPr lang="en-US" altLang="en-US" sz="16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90F284CA-7CAC-6161-BA3D-C59124A9F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913" y="4465638"/>
            <a:ext cx="51593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indent="469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ts val="1988"/>
              </a:lnSpc>
              <a:spcBef>
                <a:spcPts val="2725"/>
              </a:spcBef>
              <a:spcAft>
                <a:spcPts val="2313"/>
              </a:spcAft>
            </a:pPr>
            <a:endParaRPr lang="en-US" altLang="en-US" sz="16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4326DD2D-D79E-C6F7-06CF-0C0D906B5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113" y="6126163"/>
            <a:ext cx="34417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ts val="2525"/>
              </a:lnSpc>
              <a:spcBef>
                <a:spcPts val="2725"/>
              </a:spcBef>
              <a:spcAft>
                <a:spcPts val="2725"/>
              </a:spcAft>
            </a:pPr>
            <a:endParaRPr lang="en-US" altLang="en-US" sz="14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730CB2D5-ADFB-270C-A1D3-FAC049A40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46063"/>
            <a:ext cx="2551113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725"/>
              </a:spcBef>
            </a:pPr>
            <a:r>
              <a:rPr lang="en-US" altLang="en-US" sz="2000" b="1">
                <a:solidFill>
                  <a:srgbClr val="0F4761"/>
                </a:solidFill>
                <a:latin typeface="Arial" panose="020B0604020202020204" pitchFamily="34" charset="0"/>
              </a:rPr>
              <a:t>Dashboard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EA93B-DD70-E5F2-3D46-83CE17322668}"/>
              </a:ext>
            </a:extLst>
          </p:cNvPr>
          <p:cNvSpPr txBox="1"/>
          <p:nvPr/>
        </p:nvSpPr>
        <p:spPr>
          <a:xfrm>
            <a:off x="1112838" y="811213"/>
            <a:ext cx="5346700" cy="220957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KPI Cards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Demand vs Stock Chart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Gap Analysis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Status Indicator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Alert Box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189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*    Recommendation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549B0-1195-D1F8-D8E9-173AE9B237C6}"/>
              </a:ext>
            </a:extLst>
          </p:cNvPr>
          <p:cNvSpPr txBox="1"/>
          <p:nvPr/>
        </p:nvSpPr>
        <p:spPr>
          <a:xfrm>
            <a:off x="209550" y="3260505"/>
            <a:ext cx="5346700" cy="245323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2310"/>
              </a:spcAft>
              <a:defRPr/>
            </a:pPr>
            <a:r>
              <a:rPr lang="en-US" sz="2000" b="1" dirty="0">
                <a:solidFill>
                  <a:srgbClr val="0F4761"/>
                </a:solidFill>
                <a:latin typeface="Arial"/>
              </a:rPr>
              <a:t>Dashboard Insights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	*    High demand regions identified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	*    Supply gap visualization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	*    Risk detection (stock-out)</a:t>
            </a: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F4761"/>
              </a:solidFill>
              <a:latin typeface="Arial"/>
            </a:endParaRPr>
          </a:p>
          <a:p>
            <a:pPr marL="470408" algn="just" eaLnBrk="1" fontAlgn="auto" hangingPunct="1">
              <a:lnSpc>
                <a:spcPts val="278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F4761"/>
                </a:solidFill>
                <a:latin typeface="Arial"/>
              </a:rPr>
              <a:t> Enables quick decision making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F182A154-7BBB-754A-C5FF-91341A84D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75" y="-628650"/>
            <a:ext cx="3395663" cy="59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69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788"/>
              </a:lnSpc>
            </a:pPr>
            <a:endParaRPr lang="en-US" altLang="en-US" sz="16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CD30FB20-FE14-0542-80B4-8D40CB737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420688"/>
            <a:ext cx="1354137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938"/>
              </a:spcBef>
            </a:pPr>
            <a:r>
              <a:rPr lang="en-US" altLang="en-US" sz="2000" b="1">
                <a:solidFill>
                  <a:srgbClr val="0F4761"/>
                </a:solidFill>
                <a:latin typeface="Arial" panose="020B0604020202020204" pitchFamily="34" charset="0"/>
              </a:rPr>
              <a:t>Tech Stack: </a:t>
            </a:r>
          </a:p>
        </p:txBody>
      </p:sp>
      <p:sp>
        <p:nvSpPr>
          <p:cNvPr id="14340" name="TextBox 5">
            <a:extLst>
              <a:ext uri="{FF2B5EF4-FFF2-40B4-BE49-F238E27FC236}">
                <a16:creationId xmlns:a16="http://schemas.microsoft.com/office/drawing/2014/main" id="{86696A47-3FBB-DBF5-8425-ECC102A84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855663"/>
            <a:ext cx="53467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788"/>
              </a:lnSpc>
            </a:pP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*    Python (Pandas, NumPy, Scikit-learn)</a:t>
            </a:r>
          </a:p>
          <a:p>
            <a:pPr algn="just" eaLnBrk="1" hangingPunct="1">
              <a:lnSpc>
                <a:spcPts val="2788"/>
              </a:lnSpc>
            </a:pP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*    Joblib</a:t>
            </a:r>
          </a:p>
          <a:p>
            <a:pPr algn="just" eaLnBrk="1" hangingPunct="1">
              <a:lnSpc>
                <a:spcPts val="2788"/>
              </a:lnSpc>
            </a:pP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*    Streamlit</a:t>
            </a:r>
          </a:p>
          <a:p>
            <a:pPr algn="just" eaLnBrk="1" hangingPunct="1">
              <a:lnSpc>
                <a:spcPts val="2788"/>
              </a:lnSpc>
              <a:spcAft>
                <a:spcPts val="838"/>
              </a:spcAft>
            </a:pPr>
            <a:r>
              <a:rPr lang="en-US" altLang="en-US">
                <a:solidFill>
                  <a:srgbClr val="0F4761"/>
                </a:solidFill>
                <a:latin typeface="Arial" panose="020B0604020202020204" pitchFamily="34" charset="0"/>
              </a:rPr>
              <a:t>*    Tableau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2">
            <a:extLst>
              <a:ext uri="{FF2B5EF4-FFF2-40B4-BE49-F238E27FC236}">
                <a16:creationId xmlns:a16="http://schemas.microsoft.com/office/drawing/2014/main" id="{707380FC-58B0-2377-0931-358792BA3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207963"/>
            <a:ext cx="5346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Aft>
                <a:spcPts val="838"/>
              </a:spcAft>
            </a:pPr>
            <a:r>
              <a:rPr lang="en-US" altLang="en-US" b="1">
                <a:solidFill>
                  <a:srgbClr val="0F4761"/>
                </a:solidFill>
                <a:latin typeface="Arial" panose="020B0604020202020204" pitchFamily="34" charset="0"/>
              </a:rPr>
              <a:t>Workflow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EF9E5E-E3CB-7ADC-A2CF-A6A85E800F9F}"/>
              </a:ext>
            </a:extLst>
          </p:cNvPr>
          <p:cNvSpPr txBox="1"/>
          <p:nvPr/>
        </p:nvSpPr>
        <p:spPr>
          <a:xfrm>
            <a:off x="1274763" y="708025"/>
            <a:ext cx="5346700" cy="5781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FontTx/>
              <a:buAutoNum type="arabicParenR"/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Problem Understanding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2)    Data Collection &amp; Understanding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3)    Data Preprocessing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4)    Feature Engineering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5)    Feature Selection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6)    Model Training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7)    Model Evaluation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8)     Model Saving (</a:t>
            </a:r>
            <a:r>
              <a:rPr lang="en-IN" kern="100" dirty="0" err="1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Joblib</a:t>
            </a: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) </a:t>
            </a:r>
          </a:p>
          <a:p>
            <a:pPr marL="342900" indent="-342900"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FontTx/>
              <a:buAutoNum type="arabicParenR" startAt="9"/>
              <a:defRPr/>
            </a:pPr>
            <a:r>
              <a:rPr lang="en-IN" kern="100" dirty="0" err="1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Streamlit</a:t>
            </a: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App Development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10)   Business Logic Layer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11)   Dataset Generation for Tableau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12)   Tableau Dashboard Development 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13)    Final Output &amp; Insights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FA25FA56-BA40-15C6-16B0-299DE3518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-628650"/>
            <a:ext cx="3486150" cy="643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762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788"/>
              </a:lnSpc>
            </a:pPr>
            <a:endParaRPr lang="en-US" altLang="en-US" sz="16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968A42A-4F05-D3F1-34B4-DC4A218AD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219075"/>
            <a:ext cx="203835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spcBef>
                <a:spcPts val="2100"/>
              </a:spcBef>
            </a:pPr>
            <a:r>
              <a:rPr lang="en-US" altLang="en-US" sz="2000" b="1">
                <a:solidFill>
                  <a:srgbClr val="0F4761"/>
                </a:solidFill>
                <a:latin typeface="Arial" panose="020B0604020202020204" pitchFamily="34" charset="0"/>
              </a:rPr>
              <a:t>Business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584A2-CC81-FB72-84A9-DF7CE124920D}"/>
              </a:ext>
            </a:extLst>
          </p:cNvPr>
          <p:cNvSpPr txBox="1"/>
          <p:nvPr/>
        </p:nvSpPr>
        <p:spPr>
          <a:xfrm>
            <a:off x="709613" y="857250"/>
            <a:ext cx="4513262" cy="173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* Reduced inventory cost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* Prevented stock-out losses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* Improved supply efficiency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* Better decision making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8CE96-C0A5-B446-4F98-3764071D4321}"/>
              </a:ext>
            </a:extLst>
          </p:cNvPr>
          <p:cNvSpPr txBox="1"/>
          <p:nvPr/>
        </p:nvSpPr>
        <p:spPr>
          <a:xfrm>
            <a:off x="177800" y="2784475"/>
            <a:ext cx="5346700" cy="2578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defRPr/>
            </a:pPr>
            <a:r>
              <a:rPr lang="en-IN" sz="2400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Future Enhancements</a:t>
            </a:r>
          </a:p>
          <a:p>
            <a:pPr eaLnBrk="1" fontAlgn="auto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IN" sz="1200" kern="100" dirty="0"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 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            * Real-time data integration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            * Time-series forecasting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            * Multi-warehouse optimization</a:t>
            </a:r>
          </a:p>
          <a:p>
            <a:pPr eaLnBrk="1" fontAlgn="auto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defRPr/>
            </a:pPr>
            <a:r>
              <a:rPr lang="en-IN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	            * Automated supply system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EBBC12B1-9B9A-18DE-1E17-45C081525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-625475"/>
            <a:ext cx="2600325" cy="128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eaLnBrk="1" hangingPunct="1">
              <a:lnSpc>
                <a:spcPts val="2788"/>
              </a:lnSpc>
            </a:pPr>
            <a:endParaRPr lang="en-US" altLang="en-US" sz="1600">
              <a:solidFill>
                <a:srgbClr val="0F476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E6CA49-8470-855C-A970-3464E9EC870E}"/>
              </a:ext>
            </a:extLst>
          </p:cNvPr>
          <p:cNvSpPr/>
          <p:nvPr/>
        </p:nvSpPr>
        <p:spPr>
          <a:xfrm>
            <a:off x="406400" y="388938"/>
            <a:ext cx="6376365" cy="1694505"/>
          </a:xfrm>
          <a:prstGeom prst="rect">
            <a:avLst/>
          </a:prstGeom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2310"/>
              </a:spcAft>
              <a:defRPr/>
            </a:pPr>
            <a:r>
              <a:rPr lang="en-US" sz="2000" b="1" dirty="0">
                <a:solidFill>
                  <a:srgbClr val="0F4761"/>
                </a:solidFill>
                <a:latin typeface="Arial"/>
              </a:rPr>
              <a:t>Conclusion :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2310"/>
              </a:spcAft>
              <a:buFontTx/>
              <a:buChar char="-"/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This project goes beyond prediction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2310"/>
              </a:spcAft>
              <a:buFontTx/>
              <a:buChar char="-"/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It is a complete decision-support system combining: </a:t>
            </a:r>
          </a:p>
          <a:p>
            <a:pPr eaLnBrk="1" fontAlgn="auto" hangingPunct="1">
              <a:spcBef>
                <a:spcPts val="0"/>
              </a:spcBef>
              <a:spcAft>
                <a:spcPts val="2310"/>
              </a:spcAft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	*  Machine Learning </a:t>
            </a:r>
          </a:p>
          <a:p>
            <a:pPr eaLnBrk="1" fontAlgn="auto" hangingPunct="1">
              <a:spcBef>
                <a:spcPts val="0"/>
              </a:spcBef>
              <a:spcAft>
                <a:spcPts val="2310"/>
              </a:spcAft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	* Business Logic </a:t>
            </a:r>
          </a:p>
          <a:p>
            <a:pPr eaLnBrk="1" fontAlgn="auto" hangingPunct="1">
              <a:spcBef>
                <a:spcPts val="0"/>
              </a:spcBef>
              <a:spcAft>
                <a:spcPts val="2310"/>
              </a:spcAft>
              <a:defRPr/>
            </a:pPr>
            <a:r>
              <a:rPr lang="en-US" sz="2000" dirty="0">
                <a:solidFill>
                  <a:srgbClr val="0F4761"/>
                </a:solidFill>
                <a:latin typeface="Arial"/>
              </a:rPr>
              <a:t>	* Data Visualization </a:t>
            </a:r>
          </a:p>
          <a:p>
            <a:pPr eaLnBrk="1" fontAlgn="auto" hangingPunct="1">
              <a:spcBef>
                <a:spcPts val="0"/>
              </a:spcBef>
              <a:spcAft>
                <a:spcPts val="2310"/>
              </a:spcAft>
              <a:defRPr/>
            </a:pPr>
            <a:r>
              <a:rPr lang="en-US" sz="2000" b="1" dirty="0">
                <a:solidFill>
                  <a:srgbClr val="0F4761"/>
                </a:solidFill>
                <a:latin typeface="Arial"/>
              </a:rPr>
              <a:t>Enables real-time , data-driven supply decisions</a:t>
            </a:r>
          </a:p>
        </p:txBody>
      </p:sp>
      <p:sp>
        <p:nvSpPr>
          <p:cNvPr id="17412" name="TextBox 1">
            <a:extLst>
              <a:ext uri="{FF2B5EF4-FFF2-40B4-BE49-F238E27FC236}">
                <a16:creationId xmlns:a16="http://schemas.microsoft.com/office/drawing/2014/main" id="{86A551BA-DF11-BEA8-8AA0-6EE0C4378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6825" y="5153025"/>
            <a:ext cx="35607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/>
            <a:r>
              <a:rPr lang="en-IN" altLang="en-US" sz="2400" b="1"/>
              <a:t>Project By : </a:t>
            </a:r>
          </a:p>
          <a:p>
            <a:pPr eaLnBrk="1" hangingPunct="1"/>
            <a:r>
              <a:rPr lang="en-IN" altLang="en-US" sz="2400" b="1"/>
              <a:t>	Sagar  Wagh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1C955D-79A9-AD0C-522A-51386B32F0ED}"/>
              </a:ext>
            </a:extLst>
          </p:cNvPr>
          <p:cNvSpPr txBox="1"/>
          <p:nvPr/>
        </p:nvSpPr>
        <p:spPr>
          <a:xfrm>
            <a:off x="2624865" y="2774733"/>
            <a:ext cx="7939143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9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n-lt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</TotalTime>
  <Words>581</Words>
  <Application>Microsoft Office PowerPoint</Application>
  <PresentationFormat>Custom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Segoe UI Emoji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sagar wagh</dc:creator>
  <cp:keywords/>
  <cp:lastModifiedBy>sagar wagh</cp:lastModifiedBy>
  <cp:revision>13</cp:revision>
  <dcterms:modified xsi:type="dcterms:W3CDTF">2026-04-12T17:25:04Z</dcterms:modified>
</cp:coreProperties>
</file>